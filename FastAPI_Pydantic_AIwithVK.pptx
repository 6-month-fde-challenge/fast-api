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919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Intro: today we build a REST API with FastAPI, run it with Uvicorn, test it in Swagger UI, and finish with Pydantic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Return a dict instead of print() — FastAPI converts it to JSON. Full command for the session: uvicorn api_demo:app --reload --port 8012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three ways to call the same endpoint: Swagger "Try it out", the raw URL in a browser, and curl. %20 is a URL-encoded 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EmailStr needs: pip install "pydantic[email]". In Pydantic v2, field_validator is used with @classmethod. Validators can also clean data — here we strip and title-case the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thought: I used to write all validation inside the endpoint. Pydantic moves it into the schema, so functions stay clean and schemas can be reused across routes.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17830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Pydantic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060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B8C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Build, test and validate your first Python API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25880" y="333756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25880" y="333756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4600" y="333756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1E88E5">
              <a:alpha val="20000"/>
            </a:srgbClr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14600" y="333756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Swagger UI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977640" y="333756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34D399">
              <a:alpha val="2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977640" y="33375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&amp; Path Params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89320" y="333756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FBBF24">
              <a:alpha val="2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89320" y="33375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 Validation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77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Roadmap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9844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single route to a validated API in six steps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2377440" cy="1097280"/>
          </a:xfrm>
          <a:prstGeom prst="roundRect">
            <a:avLst>
              <a:gd name="adj" fmla="val 6667"/>
            </a:avLst>
          </a:prstGeom>
          <a:solidFill>
            <a:srgbClr val="061429">
              <a:alpha val="85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03120"/>
            <a:ext cx="548640" cy="54864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0848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API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4048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app + a GET route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828800"/>
            <a:ext cx="2377440" cy="1097280"/>
          </a:xfrm>
          <a:prstGeom prst="roundRect">
            <a:avLst>
              <a:gd name="adj" fmla="val 6667"/>
            </a:avLst>
          </a:prstGeom>
          <a:solidFill>
            <a:srgbClr val="061429">
              <a:alpha val="85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2103120"/>
            <a:ext cx="548640" cy="54864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6616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251960" y="20848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251960" y="24048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Uvicorn with --reload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828800"/>
            <a:ext cx="2377440" cy="1097280"/>
          </a:xfrm>
          <a:prstGeom prst="roundRect">
            <a:avLst>
              <a:gd name="adj" fmla="val 6667"/>
            </a:avLst>
          </a:prstGeom>
          <a:solidFill>
            <a:srgbClr val="061429">
              <a:alpha val="85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2103120"/>
            <a:ext cx="548640" cy="54864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20848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Swagger UI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24048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every route at /docs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200400"/>
            <a:ext cx="2377440" cy="1097280"/>
          </a:xfrm>
          <a:prstGeom prst="roundRect">
            <a:avLst>
              <a:gd name="adj" fmla="val 6667"/>
            </a:avLst>
          </a:prstGeom>
          <a:solidFill>
            <a:srgbClr val="061429">
              <a:alpha val="85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3474720"/>
            <a:ext cx="548640" cy="54864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34564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37764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Query, path &amp; optional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83280" y="3200400"/>
            <a:ext cx="2377440" cy="1097280"/>
          </a:xfrm>
          <a:prstGeom prst="roundRect">
            <a:avLst>
              <a:gd name="adj" fmla="val 6667"/>
            </a:avLst>
          </a:prstGeom>
          <a:solidFill>
            <a:srgbClr val="061429">
              <a:alpha val="85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66160" y="3474720"/>
            <a:ext cx="548640" cy="54864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56616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4251960" y="34564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methods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251960" y="37764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vs POST and friends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35040" y="3200400"/>
            <a:ext cx="2377440" cy="1097280"/>
          </a:xfrm>
          <a:prstGeom prst="roundRect">
            <a:avLst>
              <a:gd name="adj" fmla="val 6667"/>
            </a:avLst>
          </a:prstGeom>
          <a:solidFill>
            <a:srgbClr val="061429">
              <a:alpha val="85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0" y="3474720"/>
            <a:ext cx="548640" cy="54864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1792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6903720" y="34564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903720" y="37764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Schemas + custom validators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77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1–2 · Your First API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9844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api_demo.py — one app object, one route, one function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206240" cy="2651760"/>
          </a:xfrm>
          <a:prstGeom prst="roundRect">
            <a:avLst>
              <a:gd name="adj" fmla="val 2759"/>
            </a:avLst>
          </a:prstGeom>
          <a:solidFill>
            <a:srgbClr val="030B18">
              <a:alpha val="95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fastapi 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FastAPI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= </a:t>
            </a:r>
            <a:r>
              <a:rPr lang="en-US" sz="11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FastAPI</a:t>
            </a: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</a:t>
            </a: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"/veer"</a:t>
            </a: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</a:t>
            </a: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():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</a:t>
            </a: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r>
              <a:rPr lang="en-US" sz="11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"message"</a:t>
            </a: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 VK"</a:t>
            </a: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120640" y="1783080"/>
            <a:ext cx="3383280" cy="2651760"/>
          </a:xfrm>
          <a:prstGeom prst="roundRect">
            <a:avLst>
              <a:gd name="adj" fmla="val 2759"/>
            </a:avLst>
          </a:prstGeom>
          <a:solidFill>
            <a:srgbClr val="061429">
              <a:alpha val="85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49240" y="1920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23317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uvicorn api_demo:app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349240" y="257860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the server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349240" y="28986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 --reload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314553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Auto-restart on file save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34655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 --port 8012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349240" y="371246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the port (default 8000)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349240" y="4023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api_demo</a:t>
            </a:r>
            <a:r>
              <a:rPr lang="en-US" sz="1000" dirty="0">
                <a:solidFill>
                  <a:srgbClr val="B8C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file name   </a:t>
            </a:r>
            <a:r>
              <a:rPr lang="en-US" sz="10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r>
              <a:rPr lang="en-US" sz="1000" dirty="0">
                <a:solidFill>
                  <a:srgbClr val="B8C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FastAPI object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77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3–4 · Swagger UI &amp; Query Params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9844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route you add shows up at /docs — just refresh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206240" cy="1600200"/>
          </a:xfrm>
          <a:prstGeom prst="roundRect">
            <a:avLst>
              <a:gd name="adj" fmla="val 4571"/>
            </a:avLst>
          </a:prstGeom>
          <a:solidFill>
            <a:srgbClr val="030B18">
              <a:alpha val="95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</a:t>
            </a: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"/course_details"</a:t>
            </a: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course_details</a:t>
            </a: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(course_id: 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course_curriculum: 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</a:t>
            </a: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r>
              <a:rPr lang="en-US" sz="11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"id"</a:t>
            </a: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course_id,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1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"curriculum"</a:t>
            </a: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course_curriculum}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5204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arguments that are not in the path become query params automatically.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120640" y="1783080"/>
            <a:ext cx="3383280" cy="777240"/>
          </a:xfrm>
          <a:prstGeom prst="roundRect">
            <a:avLst>
              <a:gd name="adj" fmla="val 9412"/>
            </a:avLst>
          </a:prstGeom>
          <a:solidFill>
            <a:srgbClr val="061429">
              <a:alpha val="85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03520" y="18745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Swagger UI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303520" y="2112264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http://127.0.0.1:8012/docs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120640" y="2697480"/>
            <a:ext cx="3383280" cy="777240"/>
          </a:xfrm>
          <a:prstGeom prst="roundRect">
            <a:avLst>
              <a:gd name="adj" fmla="val 9412"/>
            </a:avLst>
          </a:prstGeom>
          <a:solidFill>
            <a:srgbClr val="061429">
              <a:alpha val="85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03520" y="27889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URL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3026664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http://127.0.0.1:8012/course_details?course_id=101&amp;course_curriculum=Python%20and%20AI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120640" y="3611880"/>
            <a:ext cx="3383280" cy="777240"/>
          </a:xfrm>
          <a:prstGeom prst="roundRect">
            <a:avLst>
              <a:gd name="adj" fmla="val 9412"/>
            </a:avLst>
          </a:prstGeom>
          <a:solidFill>
            <a:srgbClr val="061429">
              <a:alpha val="85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03520" y="37033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curl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303520" y="3941064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-X GET "http://127.0.0.1:8012/course_details?course_id=101&amp;course_curriculum=Python"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77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· Dynamic URLs &amp; Optional Params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9844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params live inside the URL; query params can be optional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PARAMETER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749040" cy="1234440"/>
          </a:xfrm>
          <a:prstGeom prst="roundRect">
            <a:avLst>
              <a:gd name="adj" fmla="val 5926"/>
            </a:avLst>
          </a:prstGeom>
          <a:solidFill>
            <a:srgbClr val="030B18">
              <a:alpha val="95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24028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</a:t>
            </a: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"/course/{course_name}"</a:t>
            </a: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get_course</a:t>
            </a: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(course_name: </a:t>
            </a:r>
            <a:r>
              <a:rPr lang="en-US" sz="10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</a:t>
            </a: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f"Course: {course_name}"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474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/course/fastapi  →  "Course: fastapi"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783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QUERY PARAMETER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2103120"/>
            <a:ext cx="3749040" cy="1234440"/>
          </a:xfrm>
          <a:prstGeom prst="roundRect">
            <a:avLst>
              <a:gd name="adj" fmla="val 5926"/>
            </a:avLst>
          </a:prstGeom>
          <a:solidFill>
            <a:srgbClr val="030B18">
              <a:alpha val="95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224028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</a:t>
            </a: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"/courses"</a:t>
            </a: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courses</a:t>
            </a: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(level: </a:t>
            </a:r>
            <a:r>
              <a:rPr lang="en-US" sz="10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</a:t>
            </a:r>
            <a:r>
              <a:rPr lang="en-US" sz="10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</a:t>
            </a: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r>
              <a:rPr lang="en-US" sz="10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"level"</a:t>
            </a: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level </a:t>
            </a:r>
            <a:r>
              <a:rPr lang="en-US" sz="10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"all"</a:t>
            </a:r>
            <a:r>
              <a:rPr lang="en-US" sz="10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3474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/courses  and  /courses?level=beginner  both work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7863840" cy="548640"/>
          </a:xfrm>
          <a:prstGeom prst="roundRect">
            <a:avLst>
              <a:gd name="adj" fmla="val 13333"/>
            </a:avLst>
          </a:prstGeom>
          <a:solidFill>
            <a:srgbClr val="0B2A4A">
              <a:alpha val="80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9319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Gotcha: </a:t>
            </a: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path param is part of the URL, so it is always required. Use "| None = None" on query params to make them optional.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77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 · HTTP Methods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9844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URL, different intent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426464" cy="960120"/>
          </a:xfrm>
          <a:prstGeom prst="roundRect">
            <a:avLst>
              <a:gd name="adj" fmla="val 7619"/>
            </a:avLst>
          </a:prstGeom>
          <a:solidFill>
            <a:srgbClr val="061429">
              <a:alpha val="85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92808"/>
            <a:ext cx="1426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04288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data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49424" y="1783080"/>
            <a:ext cx="1426464" cy="960120"/>
          </a:xfrm>
          <a:prstGeom prst="roundRect">
            <a:avLst>
              <a:gd name="adj" fmla="val 7619"/>
            </a:avLst>
          </a:prstGeom>
          <a:solidFill>
            <a:srgbClr val="061429">
              <a:alpha val="85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49424" y="1892808"/>
            <a:ext cx="1426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249424" y="2304288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data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58768" y="1783080"/>
            <a:ext cx="1426464" cy="960120"/>
          </a:xfrm>
          <a:prstGeom prst="roundRect">
            <a:avLst>
              <a:gd name="adj" fmla="val 7619"/>
            </a:avLst>
          </a:prstGeom>
          <a:solidFill>
            <a:srgbClr val="061429">
              <a:alpha val="85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58768" y="1892808"/>
            <a:ext cx="1426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88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858768" y="2304288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data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68112" y="1783080"/>
            <a:ext cx="1426464" cy="960120"/>
          </a:xfrm>
          <a:prstGeom prst="roundRect">
            <a:avLst>
              <a:gd name="adj" fmla="val 7619"/>
            </a:avLst>
          </a:prstGeom>
          <a:solidFill>
            <a:srgbClr val="061429">
              <a:alpha val="85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68112" y="1892808"/>
            <a:ext cx="1426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468112" y="2304288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part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077456" y="1783080"/>
            <a:ext cx="1426464" cy="960120"/>
          </a:xfrm>
          <a:prstGeom prst="roundRect">
            <a:avLst>
              <a:gd name="adj" fmla="val 7619"/>
            </a:avLst>
          </a:prstGeom>
          <a:solidFill>
            <a:srgbClr val="061429">
              <a:alpha val="85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77456" y="1892808"/>
            <a:ext cx="1426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077456" y="2304288"/>
            <a:ext cx="1426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data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2971800"/>
            <a:ext cx="3840480" cy="1508760"/>
          </a:xfrm>
          <a:prstGeom prst="roundRect">
            <a:avLst>
              <a:gd name="adj" fmla="val 4848"/>
            </a:avLst>
          </a:prstGeom>
          <a:solidFill>
            <a:srgbClr val="061429">
              <a:alpha val="85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30906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→  /course_details?course_id=101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34747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goes in the URL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 in history &amp; logs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for search / fetch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663440" y="2971800"/>
            <a:ext cx="3840480" cy="1508760"/>
          </a:xfrm>
          <a:prstGeom prst="roundRect">
            <a:avLst>
              <a:gd name="adj" fmla="val 4848"/>
            </a:avLst>
          </a:prstGeom>
          <a:solidFill>
            <a:srgbClr val="061429">
              <a:alpha val="85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92040" y="30906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 →  body: { "name": "Veeru" }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892040" y="34747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goes in the request body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visible in the URL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for forms &amp; new records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77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 · POST with a Pydantic Schema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9844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the shape of your data once — FastAPI validates it for you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389120" cy="2697480"/>
          </a:xfrm>
          <a:prstGeom prst="roundRect">
            <a:avLst>
              <a:gd name="adj" fmla="val 2712"/>
            </a:avLst>
          </a:prstGeom>
          <a:solidFill>
            <a:srgbClr val="030B18">
              <a:alpha val="95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40233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pydantic 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BaseModel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</a:t>
            </a: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(BaseModel):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student_id: 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course: </a:t>
            </a: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@app.post</a:t>
            </a: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"/students"</a:t>
            </a: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add_student</a:t>
            </a: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(student: Student):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</a:t>
            </a: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r>
              <a:rPr lang="en-US" sz="11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"saved"</a:t>
            </a: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student}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303520" y="1783080"/>
            <a:ext cx="3200400" cy="777240"/>
          </a:xfrm>
          <a:prstGeom prst="roundRect">
            <a:avLst>
              <a:gd name="adj" fmla="val 9412"/>
            </a:avLst>
          </a:prstGeom>
          <a:solidFill>
            <a:srgbClr val="061429">
              <a:alpha val="85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68112" y="2029968"/>
            <a:ext cx="274320" cy="27432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79592" y="18928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checks for free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879592" y="21854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student_id: int rejects "abc"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03520" y="2697480"/>
            <a:ext cx="3200400" cy="777240"/>
          </a:xfrm>
          <a:prstGeom prst="roundRect">
            <a:avLst>
              <a:gd name="adj" fmla="val 9412"/>
            </a:avLst>
          </a:prstGeom>
          <a:solidFill>
            <a:srgbClr val="061429">
              <a:alpha val="85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68112" y="2944368"/>
            <a:ext cx="274320" cy="27432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79592" y="28072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422 error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879592" y="30998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input never reaches your function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03520" y="3611880"/>
            <a:ext cx="3200400" cy="777240"/>
          </a:xfrm>
          <a:prstGeom prst="roundRect">
            <a:avLst>
              <a:gd name="adj" fmla="val 9412"/>
            </a:avLst>
          </a:prstGeom>
          <a:solidFill>
            <a:srgbClr val="061429">
              <a:alpha val="85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68112" y="3858768"/>
            <a:ext cx="274320" cy="27432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879592" y="37216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 update themselves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879592" y="40142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Swagger shows the JSON body schema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77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 · Built-in &amp; Custom Validation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9844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Field() constraints, EmailStr and @field_validator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846320" cy="2697480"/>
          </a:xfrm>
          <a:prstGeom prst="roundRect">
            <a:avLst>
              <a:gd name="adj" fmla="val 2712"/>
            </a:avLst>
          </a:prstGeom>
          <a:solidFill>
            <a:srgbClr val="030B18">
              <a:alpha val="95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44805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pydantic </a:t>
            </a:r>
            <a:r>
              <a:rPr lang="en-US" sz="9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BaseModel, Field, EmailStr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pydantic </a:t>
            </a:r>
            <a:r>
              <a:rPr lang="en-US" sz="9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field_validator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</a:t>
            </a: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(BaseModel):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student_id: </a:t>
            </a:r>
            <a:r>
              <a:rPr lang="en-US" sz="9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95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</a:t>
            </a: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(gt=0)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</a:t>
            </a:r>
            <a:r>
              <a:rPr lang="en-US" sz="9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95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</a:t>
            </a: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(min_length=1)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email: EmailStr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@field_validator</a:t>
            </a: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@classmethod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</a:t>
            </a: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no_digits</a:t>
            </a: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(cls, v):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</a:t>
            </a: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any(c.isdigit() </a:t>
            </a:r>
            <a:r>
              <a:rPr lang="en-US" sz="9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 </a:t>
            </a:r>
            <a:r>
              <a:rPr lang="en-US" sz="9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v):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raise</a:t>
            </a: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ValueError(</a:t>
            </a:r>
            <a:r>
              <a:rPr lang="en-US" sz="9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 digits in name"</a:t>
            </a: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</a:t>
            </a: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v.strip().title()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76072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THESE IN SWAGGER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760720" y="2121408"/>
            <a:ext cx="2743200" cy="512064"/>
          </a:xfrm>
          <a:prstGeom prst="roundRect">
            <a:avLst>
              <a:gd name="adj" fmla="val 14286"/>
            </a:avLst>
          </a:prstGeom>
          <a:solidFill>
            <a:srgbClr val="061429">
              <a:alpha val="85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97880" y="21671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student_id: -1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897880" y="238658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fails · must be &gt; 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760720" y="2724912"/>
            <a:ext cx="2743200" cy="512064"/>
          </a:xfrm>
          <a:prstGeom prst="roundRect">
            <a:avLst>
              <a:gd name="adj" fmla="val 14286"/>
            </a:avLst>
          </a:prstGeom>
          <a:solidFill>
            <a:srgbClr val="061429">
              <a:alpha val="85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97880" y="27706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""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897880" y="29900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fails · min length 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760720" y="3328416"/>
            <a:ext cx="2743200" cy="512064"/>
          </a:xfrm>
          <a:prstGeom prst="roundRect">
            <a:avLst>
              <a:gd name="adj" fmla="val 14286"/>
            </a:avLst>
          </a:prstGeom>
          <a:solidFill>
            <a:srgbClr val="061429">
              <a:alpha val="85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897880" y="337413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"Veeru7"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897880" y="35935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fails · custom rule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760720" y="3931920"/>
            <a:ext cx="2743200" cy="512064"/>
          </a:xfrm>
          <a:prstGeom prst="roundRect">
            <a:avLst>
              <a:gd name="adj" fmla="val 14286"/>
            </a:avLst>
          </a:prstGeom>
          <a:solidFill>
            <a:srgbClr val="061429">
              <a:alpha val="85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97880" y="39776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email: "veeru@"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897880" y="41970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fails · invalid email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77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Takeaway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9844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at the schema, keep the function clean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749040" cy="2697480"/>
          </a:xfrm>
          <a:prstGeom prst="roundRect">
            <a:avLst>
              <a:gd name="adj" fmla="val 2712"/>
            </a:avLst>
          </a:prstGeom>
          <a:solidFill>
            <a:srgbClr val="061429">
              <a:alpha val="85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928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· checks inside the function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2240280"/>
            <a:ext cx="3383280" cy="2057400"/>
          </a:xfrm>
          <a:prstGeom prst="roundRect">
            <a:avLst>
              <a:gd name="adj" fmla="val 3556"/>
            </a:avLst>
          </a:prstGeom>
          <a:solidFill>
            <a:srgbClr val="030B18">
              <a:alpha val="95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377440"/>
            <a:ext cx="3017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add_student</a:t>
            </a: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(data):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</a:t>
            </a: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data.id &lt;= 0: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</a:t>
            </a: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"bad id"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</a:t>
            </a: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data.name: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</a:t>
            </a: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"bad name"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...more checks...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...finally the logic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783080"/>
            <a:ext cx="3749040" cy="2697480"/>
          </a:xfrm>
          <a:prstGeom prst="roundRect">
            <a:avLst>
              <a:gd name="adj" fmla="val 2712"/>
            </a:avLst>
          </a:prstGeom>
          <a:solidFill>
            <a:srgbClr val="061429">
              <a:alpha val="85000"/>
            </a:srgbClr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18928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· rules live in schemas.py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37760" y="2286000"/>
            <a:ext cx="3383280" cy="640080"/>
          </a:xfrm>
          <a:prstGeom prst="roundRect">
            <a:avLst>
              <a:gd name="adj" fmla="val 8571"/>
            </a:avLst>
          </a:prstGeom>
          <a:solidFill>
            <a:srgbClr val="030B18">
              <a:alpha val="95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20640" y="23591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schemas.py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261518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 models + validators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37760" y="3063240"/>
            <a:ext cx="3383280" cy="640080"/>
          </a:xfrm>
          <a:prstGeom prst="roundRect">
            <a:avLst>
              <a:gd name="adj" fmla="val 8571"/>
            </a:avLst>
          </a:prstGeom>
          <a:solidFill>
            <a:srgbClr val="030B18">
              <a:alpha val="9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20640" y="31363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339242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7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with only business logic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39319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schemas import Student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1045</Words>
  <Application>Microsoft Office PowerPoint</Application>
  <PresentationFormat>On-screen Show (16:9)</PresentationFormat>
  <Paragraphs>163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FastAPI + Pydantic — AI with VK</dc:title>
  <dc:subject>PptxGenJS Presentation</dc:subject>
  <dc:creator>PptxGenJS</dc:creator>
  <cp:lastModifiedBy>veerandra kumar</cp:lastModifiedBy>
  <cp:revision>2</cp:revision>
  <dcterms:created xsi:type="dcterms:W3CDTF">2026-09-26T09:51:36Z</dcterms:created>
  <dcterms:modified xsi:type="dcterms:W3CDTF">2026-09-26T10:01:09Z</dcterms:modified>
</cp:coreProperties>
</file>